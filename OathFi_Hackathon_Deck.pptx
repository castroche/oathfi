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25328" y="3840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OathFi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58368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F7931A">
              <a:alpha val="85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726948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Genesis Track · AI x Web3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OathFi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04088" y="2221992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4F7FB"/>
                </a:solidFill>
              </a:rPr>
              <a:t>AI-assisted Crypto Trading Research, Risk Control, Paper Execution &amp; Audit Workflow Terminal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13232" y="29718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7B4"/>
                </a:solidFill>
              </a:rPr>
              <a:t>将实时行情、AI 交易假设、风控、模拟执行与审计证据链串成一个可验证的交易研究流程。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4133088"/>
            <a:ext cx="2130552" cy="1078992"/>
          </a:xfrm>
          <a:prstGeom prst="roundRect">
            <a:avLst>
              <a:gd name="adj" fmla="val 10169"/>
            </a:avLst>
          </a:prstGeom>
          <a:solidFill>
            <a:srgbClr val="11151B"/>
          </a:solidFill>
          <a:ln w="12700">
            <a:solidFill>
              <a:srgbClr val="2A34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242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C55E"/>
                </a:solidFill>
              </a:rPr>
              <a:t>Functional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96112" y="4700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CA7B4"/>
                </a:solidFill>
              </a:rPr>
              <a:t>Prototype stage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3090672" y="4133088"/>
            <a:ext cx="2130552" cy="1078992"/>
          </a:xfrm>
          <a:prstGeom prst="roundRect">
            <a:avLst>
              <a:gd name="adj" fmla="val 10169"/>
            </a:avLst>
          </a:prstGeom>
          <a:solidFill>
            <a:srgbClr val="11151B"/>
          </a:solidFill>
          <a:ln w="12700">
            <a:solidFill>
              <a:srgbClr val="2A34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4242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CA3FF"/>
                </a:solidFill>
              </a:rPr>
              <a:t>AI x Web3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236976" y="4700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CA7B4"/>
                </a:solidFill>
              </a:rPr>
              <a:t>Market data + agent workflow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431536" y="4133088"/>
            <a:ext cx="2130552" cy="1078992"/>
          </a:xfrm>
          <a:prstGeom prst="roundRect">
            <a:avLst>
              <a:gd name="adj" fmla="val 10169"/>
            </a:avLst>
          </a:prstGeom>
          <a:solidFill>
            <a:srgbClr val="11151B"/>
          </a:solidFill>
          <a:ln w="12700">
            <a:solidFill>
              <a:srgbClr val="2A3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4242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931A"/>
                </a:solidFill>
              </a:rPr>
              <a:t>No live funds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577840" y="4700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CA7B4"/>
                </a:solidFill>
              </a:rPr>
              <a:t>Paper execution only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284464" y="1234440"/>
            <a:ext cx="3063240" cy="4389120"/>
          </a:xfrm>
          <a:prstGeom prst="roundRect">
            <a:avLst>
              <a:gd name="adj" fmla="val 5373"/>
            </a:avLst>
          </a:prstGeom>
          <a:solidFill>
            <a:srgbClr val="11151B"/>
          </a:solidFill>
          <a:ln w="12700">
            <a:solidFill>
              <a:srgbClr val="2A34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31352" y="1600200"/>
            <a:ext cx="2606040" cy="292608"/>
          </a:xfrm>
          <a:prstGeom prst="rect">
            <a:avLst/>
          </a:prstGeom>
          <a:solidFill>
            <a:srgbClr val="2A3440"/>
          </a:solidFill>
          <a:ln w="12700">
            <a:solidFill>
              <a:srgbClr val="2A344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1352" y="2148840"/>
            <a:ext cx="1645920" cy="237744"/>
          </a:xfrm>
          <a:prstGeom prst="rect">
            <a:avLst/>
          </a:prstGeom>
          <a:solidFill>
            <a:srgbClr val="F7931A">
              <a:alpha val="90000"/>
            </a:srgbClr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31352" y="2606040"/>
            <a:ext cx="2377440" cy="237744"/>
          </a:xfrm>
          <a:prstGeom prst="rect">
            <a:avLst/>
          </a:prstGeom>
          <a:solidFill>
            <a:srgbClr val="4CA3FF">
              <a:alpha val="85000"/>
            </a:srgbClr>
          </a:solidFill>
          <a:ln w="12700">
            <a:solidFill>
              <a:srgbClr val="4CA3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31352" y="3063240"/>
            <a:ext cx="1920240" cy="237744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9015984" y="3657600"/>
            <a:ext cx="1417320" cy="1417320"/>
          </a:xfrm>
          <a:prstGeom prst="arc">
            <a:avLst/>
          </a:prstGeom>
          <a:solidFill>
            <a:srgbClr val="030304">
              <a:alpha val="85000"/>
            </a:srgbClr>
          </a:solidFill>
          <a:ln w="25400">
            <a:solidFill>
              <a:srgbClr val="F79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34272" y="4160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Checked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6263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Repo: github.com/Castroche/OathFi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Crypto decisions are fast, fragmented and hard to verify · 加密交易决策碎片化且难以复盘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25328" y="3840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OathFi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73152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2618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</a:rPr>
              <a:t>Fragmented decision stack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11151B"/>
          </a:solidFill>
          <a:ln w="12700">
            <a:solidFill>
              <a:srgbClr val="4CA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39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26464" y="2011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Market data overload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6464" y="2359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A7B4"/>
                </a:solidFill>
              </a:rPr>
              <a:t>行情、新闻、订单簿、事件流分散，交易者很难形成统一上下文。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182880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11151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039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🤖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58584" y="2011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Unstructured AI 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58584" y="2359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A7B4"/>
                </a:solidFill>
              </a:rPr>
              <a:t>AI 分析常常是自然语言建议，缺少可执行假设、边界与验证步骤。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" y="333756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11151B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5478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🛡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26464" y="3520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Risk and execution disconnected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26464" y="3867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A7B4"/>
                </a:solidFill>
              </a:rPr>
              <a:t>策略、风控、模拟执行、审计记录之间缺乏强约束链路。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5352" y="333756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11151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5478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🔍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58584" y="3520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No evidence trail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58584" y="3867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A7B4"/>
                </a:solidFill>
              </a:rPr>
              <a:t>刷新页面或切换模块后，交易假设、风控理由与执行结果容易丢失。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03120" y="5349240"/>
            <a:ext cx="7909560" cy="658368"/>
          </a:xfrm>
          <a:prstGeom prst="roundRect">
            <a:avLst>
              <a:gd name="adj" fmla="val 13889"/>
            </a:avLst>
          </a:prstGeom>
          <a:solidFill>
            <a:srgbClr val="030304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555955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Net result: traders see more information, but still lack a verifiable research-to-execution workflow.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One verifiable workflow from market data to audit report · 从行情到审计报告的一体化流程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25328" y="3840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OathFi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B"/>
                </a:solidFill>
              </a:rPr>
              <a:t>OathFi converts raw crypto market context into structured, testable and auditable trading research.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70992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7B4"/>
                </a:solidFill>
              </a:rPr>
              <a:t>OathFi 将行情、AI 假设、回测、风控、模拟执行与审计证据链串联，重点不是自动实盘，而是可验证的交易研究工作流。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77440" y="3200400"/>
            <a:ext cx="182880" cy="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3200400"/>
            <a:ext cx="182880" cy="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26480" y="3200400"/>
            <a:ext cx="182880" cy="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01000" y="3200400"/>
            <a:ext cx="182880" cy="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875520" y="3200400"/>
            <a:ext cx="182880" cy="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7240" y="27432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1151B"/>
          </a:solidFill>
          <a:ln w="13970">
            <a:solidFill>
              <a:srgbClr val="4CA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" y="2926080"/>
            <a:ext cx="384048" cy="384048"/>
          </a:xfrm>
          <a:prstGeom prst="ellipse">
            <a:avLst/>
          </a:prstGeom>
          <a:solidFill>
            <a:srgbClr val="4CA3FF">
              <a:alpha val="95000"/>
            </a:srgbClr>
          </a:solidFill>
          <a:ln w="12700">
            <a:solidFill>
              <a:srgbClr val="4CA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9900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2898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Market Monitor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17320" y="32095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CA7B4"/>
                </a:solidFill>
              </a:rPr>
              <a:t>Live data + events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651760" y="27432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1151B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98064" y="2926080"/>
            <a:ext cx="384048" cy="384048"/>
          </a:xfrm>
          <a:prstGeom prst="ellipse">
            <a:avLst/>
          </a:prstGeom>
          <a:solidFill>
            <a:srgbClr val="A78BFA">
              <a:alpha val="9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25496" y="29900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2898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Agent Lab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2095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CA7B4"/>
                </a:solidFill>
              </a:rPr>
              <a:t>AI hypothesis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526280" y="27432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1151B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72584" y="2926080"/>
            <a:ext cx="384048" cy="384048"/>
          </a:xfrm>
          <a:prstGeom prst="ellipse">
            <a:avLst/>
          </a:prstGeom>
          <a:solidFill>
            <a:srgbClr val="2DD4BF">
              <a:alpha val="95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29900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898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Backtest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66360" y="32095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CA7B4"/>
                </a:solidFill>
              </a:rPr>
              <a:t>Rule validation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400800" y="27432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1151B"/>
          </a:solidFill>
          <a:ln w="13970">
            <a:solidFill>
              <a:srgbClr val="F793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47104" y="2926080"/>
            <a:ext cx="384048" cy="384048"/>
          </a:xfrm>
          <a:prstGeom prst="ellipse">
            <a:avLst/>
          </a:prstGeom>
          <a:solidFill>
            <a:srgbClr val="F7931A">
              <a:alpha val="95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74536" y="29900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2898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Risk Firewall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040880" y="32095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CA7B4"/>
                </a:solidFill>
              </a:rPr>
              <a:t>Hard constraints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275320" y="27432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1151B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21624" y="2926080"/>
            <a:ext cx="384048" cy="384048"/>
          </a:xfrm>
          <a:prstGeom prst="ellipse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49056" y="29900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15400" y="2898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Paper Exec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915400" y="32095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CA7B4"/>
                </a:solidFill>
              </a:rPr>
              <a:t>Ledger only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10149840" y="27432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1151B"/>
          </a:solidFill>
          <a:ln w="13970">
            <a:solidFill>
              <a:srgbClr val="FACC1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96144" y="2926080"/>
            <a:ext cx="384048" cy="384048"/>
          </a:xfrm>
          <a:prstGeom prst="ellipse">
            <a:avLst/>
          </a:prstGeom>
          <a:solidFill>
            <a:srgbClr val="FACC15">
              <a:alpha val="95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23576" y="29900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789920" y="2898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Audit Report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0789920" y="32095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CA7B4"/>
                </a:solidFill>
              </a:rPr>
              <a:t>Evidence chain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32688" y="480060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0B0D10"/>
          </a:solidFill>
          <a:ln w="12700">
            <a:solidFill>
              <a:srgbClr val="2A34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88720" y="5065776"/>
            <a:ext cx="9738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Design principle: every AI output must become a structured hypothesis, every hypothesis must pass risk checks, and every execution must create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A terminal-style product surface for traders and researchers · 面向交易研究的终端式产品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25328" y="3840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OathFi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2423160" cy="1444752"/>
          </a:xfrm>
          <a:prstGeom prst="roundRect">
            <a:avLst>
              <a:gd name="adj" fmla="val 5063"/>
            </a:avLst>
          </a:prstGeom>
          <a:solidFill>
            <a:srgbClr val="11151B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27632"/>
            <a:ext cx="109728" cy="89611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Command Center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2039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Opportunity overview, agent status, market pulse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38728" y="1417320"/>
            <a:ext cx="2423160" cy="1444752"/>
          </a:xfrm>
          <a:prstGeom prst="roundRect">
            <a:avLst>
              <a:gd name="adj" fmla="val 5063"/>
            </a:avLst>
          </a:prstGeom>
          <a:solidFill>
            <a:srgbClr val="11151B"/>
          </a:solidFill>
          <a:ln w="12700">
            <a:solidFill>
              <a:srgbClr val="4CA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627632"/>
            <a:ext cx="109728" cy="896112"/>
          </a:xfrm>
          <a:prstGeom prst="rect">
            <a:avLst/>
          </a:prstGeom>
          <a:solidFill>
            <a:srgbClr val="4CA3FF"/>
          </a:solidFill>
          <a:ln w="12700">
            <a:solidFill>
              <a:srgbClr val="4CA3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Market Monitor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931920" y="2039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K-line, order book, trades, market events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19088" y="1417320"/>
            <a:ext cx="2423160" cy="1444752"/>
          </a:xfrm>
          <a:prstGeom prst="roundRect">
            <a:avLst>
              <a:gd name="adj" fmla="val 5063"/>
            </a:avLst>
          </a:prstGeom>
          <a:solidFill>
            <a:srgbClr val="11151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27632"/>
            <a:ext cx="109728" cy="8961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Agent Lab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12280" y="2039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Structured AI hypotheses and reasoning panels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299448" y="1417320"/>
            <a:ext cx="2423160" cy="1444752"/>
          </a:xfrm>
          <a:prstGeom prst="roundRect">
            <a:avLst>
              <a:gd name="adj" fmla="val 5063"/>
            </a:avLst>
          </a:prstGeom>
          <a:solidFill>
            <a:srgbClr val="11151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64040" y="1627632"/>
            <a:ext cx="109728" cy="89611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Backtest Studio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692640" y="2039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Strategy validation and result contract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3319272"/>
            <a:ext cx="2423160" cy="1444752"/>
          </a:xfrm>
          <a:prstGeom prst="roundRect">
            <a:avLst>
              <a:gd name="adj" fmla="val 5063"/>
            </a:avLst>
          </a:prstGeom>
          <a:solidFill>
            <a:srgbClr val="11151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529584"/>
            <a:ext cx="109728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Risk Firewall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051560" y="39410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Pass / reject with explicit rule evaluation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38728" y="3319272"/>
            <a:ext cx="2423160" cy="1444752"/>
          </a:xfrm>
          <a:prstGeom prst="roundRect">
            <a:avLst>
              <a:gd name="adj" fmla="val 5063"/>
            </a:avLst>
          </a:prstGeom>
          <a:solidFill>
            <a:srgbClr val="11151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03320" y="3529584"/>
            <a:ext cx="109728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Paper Execution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931920" y="39410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Simulated ledger, positions and execution logs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19088" y="3319272"/>
            <a:ext cx="2423160" cy="1444752"/>
          </a:xfrm>
          <a:prstGeom prst="roundRect">
            <a:avLst>
              <a:gd name="adj" fmla="val 5063"/>
            </a:avLst>
          </a:prstGeom>
          <a:solidFill>
            <a:srgbClr val="11151B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3529584"/>
            <a:ext cx="109728" cy="89611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Audit Reports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12280" y="39410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Evidence chain, timeline and audit hash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299448" y="3319272"/>
            <a:ext cx="2423160" cy="1444752"/>
          </a:xfrm>
          <a:prstGeom prst="roundRect">
            <a:avLst>
              <a:gd name="adj" fmla="val 5063"/>
            </a:avLst>
          </a:prstGeom>
          <a:solidFill>
            <a:srgbClr val="11151B"/>
          </a:solidFill>
          <a:ln w="12700">
            <a:solidFill>
              <a:srgbClr val="9CA7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64040" y="3529584"/>
            <a:ext cx="109728" cy="896112"/>
          </a:xfrm>
          <a:prstGeom prst="rect">
            <a:avLst/>
          </a:prstGeom>
          <a:solidFill>
            <a:srgbClr val="9CA7B4"/>
          </a:solidFill>
          <a:ln w="12700">
            <a:solidFill>
              <a:srgbClr val="9CA7B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Settings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692640" y="39410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Provider, risk, language and credential controls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7240" y="5806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Current stage: Functional prototype with local startup, security preflight, frontend build and backend tests.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Agent + Risk Firewall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From natural language analysis to rule-bound decisions · 从自然语言分析到规则约束决策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25328" y="3840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OathFi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371600"/>
            <a:ext cx="4434840" cy="4480560"/>
          </a:xfrm>
          <a:prstGeom prst="roundRect">
            <a:avLst>
              <a:gd name="adj" fmla="val 1649"/>
            </a:avLst>
          </a:prstGeom>
          <a:solidFill>
            <a:srgbClr val="11151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59168" y="1371600"/>
            <a:ext cx="4434840" cy="4480560"/>
          </a:xfrm>
          <a:prstGeom prst="roundRect">
            <a:avLst>
              <a:gd name="adj" fmla="val 1649"/>
            </a:avLst>
          </a:prstGeom>
          <a:solidFill>
            <a:srgbClr val="11151B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642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78BFA"/>
                </a:solidFill>
              </a:rPr>
              <a:t>Agent Lab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51776" y="16642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931A"/>
                </a:solidFill>
              </a:rPr>
              <a:t>Risk Firewall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24128" y="233172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22402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Generates structured trading hypotheses, not vague advice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24128" y="2862072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27706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Maps reasoning to market context, news and selected symbol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24128" y="3392424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33009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Keeps strategy rules explicit for backtest and audit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4128" y="3922776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38313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Supports provider configuration and local / API model paths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60920" y="2331720"/>
            <a:ext cx="118872" cy="118872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98664" y="22402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Evaluates max risk, stop loss, confidence and market fit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60920" y="2862072"/>
            <a:ext cx="118872" cy="118872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98664" y="27706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Blocks unsafe trades before paper execution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60920" y="3392424"/>
            <a:ext cx="118872" cy="118872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98664" y="33009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Records pass / reject rationale as evidence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60920" y="3922776"/>
            <a:ext cx="118872" cy="118872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8664" y="38313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Designed to keep live trading disabled in this release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230368" y="3611880"/>
            <a:ext cx="1828800" cy="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22976" y="3273552"/>
            <a:ext cx="1261872" cy="658368"/>
          </a:xfrm>
          <a:prstGeom prst="roundRect">
            <a:avLst>
              <a:gd name="adj" fmla="val 11111"/>
            </a:avLst>
          </a:prstGeom>
          <a:solidFill>
            <a:srgbClr val="030304"/>
          </a:solidFill>
          <a:ln w="12700">
            <a:solidFill>
              <a:srgbClr val="3845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05272" y="3410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4F7FB"/>
                </a:solidFill>
              </a:rPr>
              <a:t>Hypothesis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F4F7FB"/>
                </a:solidFill>
              </a:rPr>
              <a:t>contract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376672" y="5138928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9824" y="5207508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Paper only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Execution &amp; Audit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A safer loop for proof, not live fund movement · 用模拟执行构建可验证证据链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25328" y="3840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OathFi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7FB"/>
                </a:solidFill>
              </a:rPr>
              <a:t>OathFi deliberately separates research validation from real-money trading.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49808" y="16824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7B4"/>
                </a:solidFill>
              </a:rPr>
              <a:t>The current release creates simulated orders, execution logs, active paper positions and audit summaries. It does not move real funds.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2953512"/>
            <a:ext cx="502920" cy="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" y="2468880"/>
            <a:ext cx="2212848" cy="1051560"/>
          </a:xfrm>
          <a:prstGeom prst="roundRect">
            <a:avLst>
              <a:gd name="adj" fmla="val 6957"/>
            </a:avLst>
          </a:prstGeom>
          <a:solidFill>
            <a:srgbClr val="11151B"/>
          </a:solidFill>
          <a:ln w="12700">
            <a:solidFill>
              <a:srgbClr val="4CA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7004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Order Ticket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30358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9CA7B4"/>
                </a:solidFill>
              </a:rPr>
              <a:t>symbol · side · entry · SL/TP · size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5852160" y="2953512"/>
            <a:ext cx="502920" cy="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11880" y="2468880"/>
            <a:ext cx="2212848" cy="1051560"/>
          </a:xfrm>
          <a:prstGeom prst="roundRect">
            <a:avLst>
              <a:gd name="adj" fmla="val 6957"/>
            </a:avLst>
          </a:prstGeom>
          <a:solidFill>
            <a:srgbClr val="11151B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67004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Execution Preview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94760" y="30358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9CA7B4"/>
                </a:solidFill>
              </a:rPr>
              <a:t>risk/reward · max loss · firewall status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8686800" y="2953512"/>
            <a:ext cx="502920" cy="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2468880"/>
            <a:ext cx="2212848" cy="1051560"/>
          </a:xfrm>
          <a:prstGeom prst="roundRect">
            <a:avLst>
              <a:gd name="adj" fmla="val 6957"/>
            </a:avLst>
          </a:prstGeom>
          <a:solidFill>
            <a:srgbClr val="11151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67004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Paper Ledger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29400" y="30358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9CA7B4"/>
                </a:solidFill>
              </a:rPr>
              <a:t>simulated fill · slippage · positions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9281160" y="2468880"/>
            <a:ext cx="2212848" cy="1051560"/>
          </a:xfrm>
          <a:prstGeom prst="roundRect">
            <a:avLst>
              <a:gd name="adj" fmla="val 6957"/>
            </a:avLst>
          </a:prstGeom>
          <a:solidFill>
            <a:srgbClr val="11151B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267004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Audit Report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464040" y="30358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9CA7B4"/>
                </a:solidFill>
              </a:rPr>
              <a:t>timeline · evidence · audit hash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1508760" y="4572000"/>
            <a:ext cx="9144000" cy="841248"/>
          </a:xfrm>
          <a:prstGeom prst="roundRect">
            <a:avLst>
              <a:gd name="adj" fmla="val 8696"/>
            </a:avLst>
          </a:prstGeom>
          <a:solidFill>
            <a:srgbClr val="0B0D10"/>
          </a:solidFill>
          <a:ln w="12700">
            <a:solidFill>
              <a:srgbClr val="2A34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4846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4F7FB"/>
                </a:solidFill>
              </a:rPr>
              <a:t>Why it matters: evaluators can inspect what the system believed, what rules were applied, what was simulated and why the action was accepted or rejected.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React + FastAPI + persistence + AI provider layer · 前后端、数据与AI适配层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25328" y="3840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OathFi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1965960"/>
            <a:ext cx="1417320" cy="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309360" y="1965960"/>
            <a:ext cx="1417320" cy="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577840" y="2743200"/>
            <a:ext cx="0" cy="100584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4709160"/>
            <a:ext cx="1188720" cy="-45720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98080" y="4709160"/>
            <a:ext cx="-1051560" cy="-457200"/>
          </a:xfrm>
          <a:prstGeom prst="line">
            <a:avLst/>
          </a:prstGeom>
          <a:noFill/>
          <a:ln w="17780">
            <a:solidFill>
              <a:srgbClr val="38455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11151B"/>
          </a:solidFill>
          <a:ln w="12700">
            <a:solidFill>
              <a:srgbClr val="4CA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618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7FB"/>
                </a:solidFill>
              </a:rPr>
              <a:t>Frontend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198424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React · TypeScript · Vite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terminal UI · i18n · state stores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05072" y="14173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11151B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7952" y="1618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7FB"/>
                </a:solidFill>
              </a:rPr>
              <a:t>FastAPI Backend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187952" y="19842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APIs · services · contracts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risk · execution · audit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82128" y="14173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11151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5008" y="16184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7FB"/>
                </a:solidFill>
              </a:rPr>
              <a:t>Market Data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65008" y="19842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HTX API · WebSocket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K-line · order book · trades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4096512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11151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297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7FB"/>
                </a:solidFill>
              </a:rPr>
              <a:t>AI Provider Layer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DeepSeek · OpenAI-compatible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Ollama local path · adapters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0" y="4096512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11151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4297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7FB"/>
                </a:solidFill>
              </a:rPr>
              <a:t>Persistence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389120" y="46634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SQLite · SQLAlchemy · Alembic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orders · settings · audit reports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0" y="4096512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11151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97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7FB"/>
                </a:solidFill>
              </a:rPr>
              <a:t>Security Guardrails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680960" y="46634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.env examples · preflight 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no secrets committed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" y="589788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966460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Build passed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331720" y="5897880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04872" y="5966460"/>
            <a:ext cx="1819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Security preflight passed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26280" y="589788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5966460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Live trading disabled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0" y="589788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4CA3FF">
              <a:alpha val="85000"/>
            </a:srgbClr>
          </a:solidFill>
          <a:ln w="12700">
            <a:solidFill>
              <a:srgbClr val="4CA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5966460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Repo public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Status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What is working now · 当前项目状态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25328" y="3840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OathFi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325880"/>
            <a:ext cx="10771632" cy="4114800"/>
          </a:xfrm>
          <a:prstGeom prst="roundRect">
            <a:avLst>
              <a:gd name="adj" fmla="val 1778"/>
            </a:avLst>
          </a:prstGeom>
          <a:solidFill>
            <a:srgbClr val="11151B"/>
          </a:solidFill>
          <a:ln w="12700">
            <a:solidFill>
              <a:srgbClr val="2A3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64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Frontend build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37560" y="166420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7B4"/>
                </a:solidFill>
              </a:rPr>
              <a:t>npm run build completed successfully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9674352" y="1636776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47504" y="1705356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PASS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60120" y="2121408"/>
            <a:ext cx="10058400" cy="0"/>
          </a:xfrm>
          <a:prstGeom prst="line">
            <a:avLst/>
          </a:prstGeom>
          <a:noFill/>
          <a:ln w="8890">
            <a:solidFill>
              <a:srgbClr val="2A34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3225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Security scan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37560" y="23225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7B4"/>
                </a:solidFill>
              </a:rPr>
              <a:t>preflight blocks .env, keys, db, logs and build artifacts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674352" y="229514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47504" y="2363724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PASS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2779776"/>
            <a:ext cx="10058400" cy="0"/>
          </a:xfrm>
          <a:prstGeom prst="line">
            <a:avLst/>
          </a:prstGeom>
          <a:noFill/>
          <a:ln w="8890">
            <a:solidFill>
              <a:srgbClr val="2A3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980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Backend tests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37560" y="298094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7B4"/>
                </a:solidFill>
              </a:rPr>
              <a:t>pytest coverage for risk, execution, audit and settings contracts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9674352" y="2953512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47504" y="3022092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PASS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0120" y="3438144"/>
            <a:ext cx="10058400" cy="0"/>
          </a:xfrm>
          <a:prstGeom prst="line">
            <a:avLst/>
          </a:prstGeom>
          <a:noFill/>
          <a:ln w="8890">
            <a:solidFill>
              <a:srgbClr val="2A34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Repository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37560" y="363931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7B4"/>
                </a:solidFill>
              </a:rPr>
              <a:t>public GitHub repo with source, docs and examples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674352" y="361188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4CA3FF">
              <a:alpha val="85000"/>
            </a:srgbClr>
          </a:solidFill>
          <a:ln w="12700">
            <a:solidFill>
              <a:srgbClr val="4CA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47504" y="368046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READY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60120" y="4096512"/>
            <a:ext cx="10058400" cy="0"/>
          </a:xfrm>
          <a:prstGeom prst="line">
            <a:avLst/>
          </a:prstGeom>
          <a:noFill/>
          <a:ln w="8890">
            <a:solidFill>
              <a:srgbClr val="2A34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297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B"/>
                </a:solidFill>
              </a:rPr>
              <a:t>Live trading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337560" y="42976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CA7B4"/>
                </a:solidFill>
              </a:rPr>
              <a:t>intentionally disabled for safe demo release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674352" y="4270248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47504" y="4338828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OFF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931A"/>
                </a:solidFill>
              </a:rPr>
              <a:t>Stage selection: Functional Prototype · 当前进度：有可运行原型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Evaluator path for a 2–3 minute product walkthrough · 推荐演示路径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25328" y="3840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OathFi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307592"/>
            <a:ext cx="438912" cy="438912"/>
          </a:xfrm>
          <a:prstGeom prst="ellipse">
            <a:avLst/>
          </a:prstGeom>
          <a:solidFill>
            <a:srgbClr val="F7931A">
              <a:alpha val="95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173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07592" y="1234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Command Center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07592" y="15819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Open market overview and agent status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5352" y="1307592"/>
            <a:ext cx="438912" cy="438912"/>
          </a:xfrm>
          <a:prstGeom prst="ellipse">
            <a:avLst/>
          </a:prstGeom>
          <a:solidFill>
            <a:srgbClr val="F7931A">
              <a:alpha val="95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4173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39712" y="1234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Market Monitor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9712" y="15819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Select a trading pair and show live market panels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450592"/>
            <a:ext cx="438912" cy="438912"/>
          </a:xfrm>
          <a:prstGeom prst="ellipse">
            <a:avLst/>
          </a:prstGeom>
          <a:solidFill>
            <a:srgbClr val="F7931A">
              <a:alpha val="95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603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7592" y="2377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Agent Lab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07592" y="27249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Generate a structured AI trading hypothesis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5352" y="2450592"/>
            <a:ext cx="438912" cy="438912"/>
          </a:xfrm>
          <a:prstGeom prst="ellipse">
            <a:avLst/>
          </a:prstGeom>
          <a:solidFill>
            <a:srgbClr val="F7931A">
              <a:alpha val="95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25603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39712" y="2377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Backtest Studio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39712" y="27249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Validate the hypothesis against strategy rules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3593592"/>
            <a:ext cx="438912" cy="438912"/>
          </a:xfrm>
          <a:prstGeom prst="ellipse">
            <a:avLst/>
          </a:prstGeom>
          <a:solidFill>
            <a:srgbClr val="F7931A">
              <a:alpha val="95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7033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07592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Risk Firewall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307592" y="38679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Show pass / reject decision and risk rationale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45352" y="3593592"/>
            <a:ext cx="438912" cy="438912"/>
          </a:xfrm>
          <a:prstGeom prst="ellipse">
            <a:avLst/>
          </a:prstGeom>
          <a:solidFill>
            <a:srgbClr val="F7931A">
              <a:alpha val="95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7033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39712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Paper Execution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39712" y="38679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Create a simulated order and ledger record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" y="4736592"/>
            <a:ext cx="438912" cy="438912"/>
          </a:xfrm>
          <a:prstGeom prst="ellipse">
            <a:avLst/>
          </a:prstGeom>
          <a:solidFill>
            <a:srgbClr val="F7931A">
              <a:alpha val="95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8463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07592" y="4663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Audit Reports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307592" y="50109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Review timeline, evidence and audit hash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45352" y="4736592"/>
            <a:ext cx="438912" cy="438912"/>
          </a:xfrm>
          <a:prstGeom prst="ellipse">
            <a:avLst/>
          </a:prstGeom>
          <a:solidFill>
            <a:srgbClr val="F7931A">
              <a:alpha val="95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48463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39712" y="4663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B"/>
                </a:solidFill>
              </a:rPr>
              <a:t>Settings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839712" y="50109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Show language/provider/risk controls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60120" y="5943600"/>
            <a:ext cx="10287000" cy="438912"/>
          </a:xfrm>
          <a:prstGeom prst="roundRect">
            <a:avLst>
              <a:gd name="adj" fmla="val 16667"/>
            </a:avLst>
          </a:prstGeom>
          <a:solidFill>
            <a:srgbClr val="0B0D10"/>
          </a:solidFill>
          <a:ln w="12700">
            <a:solidFill>
              <a:srgbClr val="2A34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6071616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Demo URL should be a public video or hosted deployment link; do not use localhost for submission.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From functional prototype to a safer trading research infrastructure · 后续路线图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25328" y="3840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OathFi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2267712" cy="3337560"/>
          </a:xfrm>
          <a:prstGeom prst="roundRect">
            <a:avLst>
              <a:gd name="adj" fmla="val 3226"/>
            </a:avLst>
          </a:prstGeom>
          <a:solidFill>
            <a:srgbClr val="11151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029968"/>
            <a:ext cx="502920" cy="502920"/>
          </a:xfrm>
          <a:prstGeom prst="ellipse">
            <a:avLst/>
          </a:prstGeom>
          <a:solidFill>
            <a:srgbClr val="22C55E">
              <a:alpha val="90000"/>
            </a:srgbClr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7627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</a:rPr>
              <a:t>Now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Functional prototype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Local frontend/backend, paper trading, audit reports, provider settings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1691640"/>
            <a:ext cx="2267712" cy="3337560"/>
          </a:xfrm>
          <a:prstGeom prst="roundRect">
            <a:avLst>
              <a:gd name="adj" fmla="val 3226"/>
            </a:avLst>
          </a:prstGeom>
          <a:solidFill>
            <a:srgbClr val="11151B"/>
          </a:solidFill>
          <a:ln w="12700">
            <a:solidFill>
              <a:srgbClr val="4CA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2029968"/>
            <a:ext cx="502920" cy="502920"/>
          </a:xfrm>
          <a:prstGeom prst="ellipse">
            <a:avLst/>
          </a:prstGeom>
          <a:solidFill>
            <a:srgbClr val="4CA3FF">
              <a:alpha val="90000"/>
            </a:srgbClr>
          </a:solidFill>
          <a:ln w="13970">
            <a:solidFill>
              <a:srgbClr val="4CA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17627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A3FF"/>
                </a:solidFill>
              </a:rPr>
              <a:t>Next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9476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Hosted demo + better data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94760" y="3703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Deployment, screenshots, improved symbol coverage, richer market events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55080" y="1691640"/>
            <a:ext cx="2267712" cy="3337560"/>
          </a:xfrm>
          <a:prstGeom prst="roundRect">
            <a:avLst>
              <a:gd name="adj" fmla="val 3226"/>
            </a:avLst>
          </a:prstGeom>
          <a:solidFill>
            <a:srgbClr val="11151B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029968"/>
            <a:ext cx="502920" cy="502920"/>
          </a:xfrm>
          <a:prstGeom prst="ellipse">
            <a:avLst/>
          </a:prstGeom>
          <a:solidFill>
            <a:srgbClr val="F7931A">
              <a:alpha val="90000"/>
            </a:srgbClr>
          </a:solidFill>
          <a:ln w="13970">
            <a:solidFill>
              <a:srgbClr val="F79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17627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931A"/>
                </a:solidFill>
              </a:rPr>
              <a:t>Later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Team research workspace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3703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Shared hypotheses, strategy library, permissioned audit exports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0" y="1691640"/>
            <a:ext cx="2267712" cy="3337560"/>
          </a:xfrm>
          <a:prstGeom prst="roundRect">
            <a:avLst>
              <a:gd name="adj" fmla="val 3226"/>
            </a:avLst>
          </a:prstGeom>
          <a:solidFill>
            <a:srgbClr val="11151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72600" y="2029968"/>
            <a:ext cx="502920" cy="502920"/>
          </a:xfrm>
          <a:prstGeom prst="ellipse">
            <a:avLst/>
          </a:prstGeom>
          <a:solidFill>
            <a:srgbClr val="A78BFA">
              <a:alpha val="90000"/>
            </a:srgbClr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217627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7260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Long term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726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Compliant execution layer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72600" y="3703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A7B4"/>
                </a:solidFill>
              </a:rPr>
              <a:t>Optional broker/exchange adapters under strict risk and legal controls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37360" y="5806440"/>
            <a:ext cx="8823960" cy="292608"/>
          </a:xfrm>
          <a:prstGeom prst="roundRect">
            <a:avLst>
              <a:gd name="adj" fmla="val 25000"/>
            </a:avLst>
          </a:prstGeom>
          <a:solidFill>
            <a:srgbClr val="F7931A">
              <a:alpha val="85000"/>
            </a:srgbClr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10512" y="5875020"/>
            <a:ext cx="8677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B"/>
                </a:solidFill>
              </a:rPr>
              <a:t>Current ask: review, feedback, and ecosystem support for AI x Web3 research workflows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Links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4"/>
                </a:solidFill>
              </a:rPr>
              <a:t>Hackathon reference page · 提交信息汇总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25328" y="3840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931A"/>
                </a:solidFill>
              </a:rPr>
              <a:t>OathFi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</a:rPr>
              <a:t>One-line pitch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1664208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1151B"/>
          </a:solidFill>
          <a:ln w="12700">
            <a:solidFill>
              <a:srgbClr val="2A3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0195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7FB"/>
                </a:solidFill>
              </a:rPr>
              <a:t>OathFi is an AI x Web3 trading research terminal that turns crypto market data into auditable trading hypotheses, risk checks, paper execution, and evidence reports.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A7B4"/>
                </a:solidFill>
              </a:rPr>
              <a:t>Track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14600" y="29718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Life / Genesis · AI x Web3 application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A7B4"/>
                </a:solidFill>
              </a:rPr>
              <a:t>Stage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14600" y="34747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Functional Prototype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39776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A7B4"/>
                </a:solidFill>
              </a:rPr>
              <a:t>Repo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14600" y="39776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https://github.com/Castroche/OathFi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A7B4"/>
                </a:solidFill>
              </a:rPr>
              <a:t>Compute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14600" y="44805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No extra compute required for current demo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9834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A7B4"/>
                </a:solidFill>
              </a:rPr>
              <a:t>Demo URL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14600" y="49834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Add public video or hosted link before final submission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57424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931A"/>
                </a:solidFill>
              </a:rPr>
              <a:t>Ready for Genesis submission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OathFi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OathFi Hackathon Deck</dc:title>
  <dc:subject>OathFi Hackathon Pitch Deck</dc:subject>
  <dc:creator>OpenAI</dc:creator>
  <cp:lastModifiedBy>OpenAI</cp:lastModifiedBy>
  <cp:revision>1</cp:revision>
  <dcterms:created xsi:type="dcterms:W3CDTF">2026-06-30T00:59:46Z</dcterms:created>
  <dcterms:modified xsi:type="dcterms:W3CDTF">2026-06-30T00:59:46Z</dcterms:modified>
</cp:coreProperties>
</file>